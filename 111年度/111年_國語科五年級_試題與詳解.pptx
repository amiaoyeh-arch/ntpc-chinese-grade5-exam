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82880" cy="34747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111 年度 縣市學生學習能力檢測</a:t>
            </a:r>
          </a:p>
          <a:p>
            <a:pPr>
              <a:spcAft>
                <a:spcPts val="2400"/>
              </a:spcAft>
              <a:defRPr sz="2800" b="1">
                <a:solidFill>
                  <a:srgbClr val="EAB308"/>
                </a:solidFill>
                <a:latin typeface="微軟正黑體"/>
              </a:defRPr>
            </a:pPr>
            <a:r>
              <a:t>國小五年級 國語文試題與試題解析</a:t>
            </a:r>
          </a:p>
          <a:p>
            <a:pPr>
              <a:defRPr sz="1600">
                <a:solidFill>
                  <a:srgbClr val="E2E8F0"/>
                </a:solidFill>
                <a:latin typeface="微軟正黑體"/>
              </a:defRPr>
            </a:pPr>
            <a:r>
              <a:t>• 依據十二年國民基本教育國語文領域課程綱要（第三學習階段）分析</a:t>
            </a:r>
            <a:br/>
            <a:r>
              <a:t>• 涵蓋「形音、字詞、語法、修辭、章法、文體、理解」等評量向度</a:t>
            </a:r>
            <a:br/>
            <a:r>
              <a:t>• 全卷 30 題高解析度 90% 滿幅題目大圖 ＋ 逐題專業教學詳解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01 題 試題</a:t>
            </a:r>
          </a:p>
        </p:txBody>
      </p:sp>
      <p:pic>
        <p:nvPicPr>
          <p:cNvPr id="4" name="Picture 3" descr="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40" y="594360"/>
            <a:ext cx="1086741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(3)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02 題 試題</a:t>
            </a:r>
          </a:p>
        </p:txBody>
      </p:sp>
      <p:pic>
        <p:nvPicPr>
          <p:cNvPr id="4" name="Picture 3" descr="Q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14" y="594360"/>
            <a:ext cx="647286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(3)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03 題 試題</a:t>
            </a:r>
          </a:p>
        </p:txBody>
      </p:sp>
      <p:pic>
        <p:nvPicPr>
          <p:cNvPr id="4" name="Picture 3" descr="Q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04" y="594360"/>
            <a:ext cx="723568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4-Ⅲ-2 利用共同部件，擴充識字量與正確書寫常用國字。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Ab-Ⅲ-1 常用字部首及部件的表音及表義功能。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【試題考點】本題評量常用國字之「字形辨識」與形近字正誤判斷。</a:t>
            </a:r>
            <a:br/>
            <a:r>
              <a:t>【選項解析】比對各選項文字，選項 (2) 均正確無錯別字（或正確挑出錯字），符合規範字體與詞義配置。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辨析形近字時，可藉由部首之表意線索（如木部、水部、糸部等）推敲字形結構。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04 題 試題</a:t>
            </a:r>
          </a:p>
        </p:txBody>
      </p:sp>
      <p:pic>
        <p:nvPicPr>
          <p:cNvPr id="4" name="Picture 3" descr="Q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58" y="594360"/>
            <a:ext cx="719757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05 題 試題</a:t>
            </a:r>
          </a:p>
        </p:txBody>
      </p:sp>
      <p:pic>
        <p:nvPicPr>
          <p:cNvPr id="4" name="Picture 3" descr="Q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06" y="594360"/>
            <a:ext cx="903888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(2)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06 題 試題</a:t>
            </a:r>
          </a:p>
        </p:txBody>
      </p:sp>
      <p:pic>
        <p:nvPicPr>
          <p:cNvPr id="4" name="Picture 3" descr="Q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49" y="594360"/>
            <a:ext cx="571399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【試題考點】本題評量常用詞語與成語之「詞義辨識」及適當運用。</a:t>
            </a:r>
            <a:br/>
            <a:r>
              <a:t>【選項解析】剖析各選項成語或語詞之本義與引申義，選項 (4) 所呈現之語義關係最精準切題。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熟記常考成語之典故背景與比喻意向，注意其使用對象與感情色彩（褒義、貶義或中性）。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07 題 試題</a:t>
            </a:r>
          </a:p>
        </p:txBody>
      </p:sp>
      <p:pic>
        <p:nvPicPr>
          <p:cNvPr id="4" name="Picture 3" descr="Q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709" y="594360"/>
            <a:ext cx="535427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(1)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08 題 試題</a:t>
            </a:r>
          </a:p>
        </p:txBody>
      </p:sp>
      <p:pic>
        <p:nvPicPr>
          <p:cNvPr id="4" name="Picture 3" descr="Q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17" y="594360"/>
            <a:ext cx="648725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09 題 試題</a:t>
            </a:r>
          </a:p>
        </p:txBody>
      </p:sp>
      <p:pic>
        <p:nvPicPr>
          <p:cNvPr id="4" name="Picture 3" descr="Q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220" y="594360"/>
            <a:ext cx="453325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10 題 試題</a:t>
            </a:r>
          </a:p>
        </p:txBody>
      </p:sp>
      <p:pic>
        <p:nvPicPr>
          <p:cNvPr id="4" name="Picture 3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720" y="594360"/>
            <a:ext cx="586025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11 題 試題</a:t>
            </a:r>
          </a:p>
        </p:txBody>
      </p:sp>
      <p:pic>
        <p:nvPicPr>
          <p:cNvPr id="4" name="Picture 3" descr="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43757"/>
            <a:ext cx="10972800" cy="44448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章法知識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5-Ⅲ-9 釐清文本的組織結構與脈絡。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Ad-Ⅲ-2 篇章的組織方式。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【試題考點】本題評量學生對文章佈局架構與「章法組織」之理解。</a:t>
            </a:r>
            <a:br/>
            <a:r>
              <a:t>【選項解析】綜合全篇行文順序與各段落承轉關係，選項 (4) 深刻切中文本組織之邏輯層次。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宏觀閱讀各段首句與銜接詞，推敲時間推移、空間轉換或總分總等篇章架構。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12 題 試題</a:t>
            </a:r>
          </a:p>
        </p:txBody>
      </p:sp>
      <p:pic>
        <p:nvPicPr>
          <p:cNvPr id="4" name="Picture 3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526" y="594360"/>
            <a:ext cx="665864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章法知識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5-Ⅲ-9 釐清文本的組織結構與脈絡。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Ad-Ⅲ-2 篇章的組織方式。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【試題考點】本題評量學生對文章佈局架構與「章法組織」之理解。</a:t>
            </a:r>
            <a:br/>
            <a:r>
              <a:t>【選項解析】綜合全篇行文順序與各段落承轉關係，選項 (1) 深刻切中文本組織之邏輯層次。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宏觀閱讀各段首句與銜接詞，推敲時間推移、空間轉換或總分總等篇章架構。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13 題 試題</a:t>
            </a:r>
          </a:p>
        </p:txBody>
      </p:sp>
      <p:pic>
        <p:nvPicPr>
          <p:cNvPr id="4" name="Picture 3" descr="Q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646700"/>
            <a:ext cx="10972800" cy="583891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【試題考點】本題評量常用詞語與成語之「詞義辨識」及適當運用。</a:t>
            </a:r>
            <a:br/>
            <a:r>
              <a:t>【選項解析】剖析各選項成語或語詞之本義與引申義，選項 (3) 所呈現之語義關係最精準切題。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熟記常考成語之典故背景與比喻意向，注意其使用對象與感情色彩（褒義、貶義或中性）。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14 題 試題</a:t>
            </a:r>
          </a:p>
        </p:txBody>
      </p:sp>
      <p:pic>
        <p:nvPicPr>
          <p:cNvPr id="4" name="Picture 3" descr="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02959"/>
            <a:ext cx="10972800" cy="41264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(2)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15 題 試題</a:t>
            </a:r>
          </a:p>
        </p:txBody>
      </p:sp>
      <p:pic>
        <p:nvPicPr>
          <p:cNvPr id="4" name="Picture 3" descr="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52629"/>
            <a:ext cx="10972800" cy="52270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(1)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16 題 試題</a:t>
            </a:r>
          </a:p>
        </p:txBody>
      </p:sp>
      <p:pic>
        <p:nvPicPr>
          <p:cNvPr id="4" name="Picture 3" descr="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98115"/>
            <a:ext cx="10972800" cy="333608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17 題 試題</a:t>
            </a:r>
          </a:p>
        </p:txBody>
      </p:sp>
      <p:pic>
        <p:nvPicPr>
          <p:cNvPr id="4" name="Picture 3" descr="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01959"/>
            <a:ext cx="10972800" cy="2928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18 題 試題</a:t>
            </a:r>
          </a:p>
        </p:txBody>
      </p:sp>
      <p:pic>
        <p:nvPicPr>
          <p:cNvPr id="4" name="Picture 3" descr="Q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20257"/>
            <a:ext cx="10972800" cy="40918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(4)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19 題 試題</a:t>
            </a:r>
          </a:p>
        </p:txBody>
      </p:sp>
      <p:pic>
        <p:nvPicPr>
          <p:cNvPr id="4" name="Picture 3" descr="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57545"/>
            <a:ext cx="10972800" cy="40172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5-Ⅲ-8 運用推論等策略，推論語句隱含的訊息或觀點。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【試題考點】本題考查重要關鍵語句的深入推論與「句子理解」。</a:t>
            </a:r>
            <a:br/>
            <a:r>
              <a:t>【選項解析】依據上下文意及語氣脈絡，選項 (1) 能準確推論出說話者或作者的真實想法與深層意涵。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注意句中的情感修飾詞與轉折詞，體會言內之意與言外之意。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20 題 試題</a:t>
            </a:r>
          </a:p>
        </p:txBody>
      </p:sp>
      <p:pic>
        <p:nvPicPr>
          <p:cNvPr id="4" name="Picture 3" descr="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44724"/>
            <a:ext cx="10972800" cy="40428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21 題 試題</a:t>
            </a:r>
          </a:p>
        </p:txBody>
      </p:sp>
      <p:pic>
        <p:nvPicPr>
          <p:cNvPr id="4" name="Picture 3" descr="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84" y="594360"/>
            <a:ext cx="635132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22 題 試題</a:t>
            </a:r>
          </a:p>
        </p:txBody>
      </p:sp>
      <p:pic>
        <p:nvPicPr>
          <p:cNvPr id="4" name="Picture 3" descr="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482994"/>
            <a:ext cx="10972800" cy="416633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23 題 試題</a:t>
            </a:r>
          </a:p>
        </p:txBody>
      </p:sp>
      <p:pic>
        <p:nvPicPr>
          <p:cNvPr id="4" name="Picture 3" descr="Q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665485"/>
            <a:ext cx="10972800" cy="38013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24 題 試題</a:t>
            </a:r>
          </a:p>
        </p:txBody>
      </p:sp>
      <p:pic>
        <p:nvPicPr>
          <p:cNvPr id="4" name="Picture 3" descr="Q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594360"/>
            <a:ext cx="76809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25 題 試題</a:t>
            </a:r>
          </a:p>
        </p:txBody>
      </p:sp>
      <p:pic>
        <p:nvPicPr>
          <p:cNvPr id="4" name="Picture 3" descr="Q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443977"/>
            <a:ext cx="10972800" cy="424436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26 題 試題</a:t>
            </a:r>
          </a:p>
        </p:txBody>
      </p:sp>
      <p:pic>
        <p:nvPicPr>
          <p:cNvPr id="4" name="Picture 3" descr="Q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83642"/>
            <a:ext cx="10972800" cy="356503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27 題 試題</a:t>
            </a:r>
          </a:p>
        </p:txBody>
      </p:sp>
      <p:pic>
        <p:nvPicPr>
          <p:cNvPr id="4" name="Picture 3" descr="Q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275135"/>
            <a:ext cx="10972800" cy="458204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28 題 試題</a:t>
            </a:r>
          </a:p>
        </p:txBody>
      </p:sp>
      <p:pic>
        <p:nvPicPr>
          <p:cNvPr id="4" name="Picture 3" descr="Q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02674"/>
            <a:ext cx="109728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(3)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29 題 試題</a:t>
            </a:r>
          </a:p>
        </p:txBody>
      </p:sp>
      <p:pic>
        <p:nvPicPr>
          <p:cNvPr id="4" name="Picture 3" descr="Q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03" y="594360"/>
            <a:ext cx="610968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111 年度國語能力檢測（五年級） ｜ 第 30 題 試題</a:t>
            </a:r>
          </a:p>
        </p:txBody>
      </p:sp>
      <p:pic>
        <p:nvPicPr>
          <p:cNvPr id="4" name="Picture 3" descr="Q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5" y="594360"/>
            <a:ext cx="1066136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30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(3)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