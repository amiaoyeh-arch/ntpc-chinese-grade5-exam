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82880" cy="3474720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601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FFFFFF"/>
                </a:solidFill>
                <a:latin typeface="微軟正黑體"/>
              </a:defRPr>
            </a:pPr>
            <a:r>
              <a:t>112 年度 縣市學生學習能力檢測</a:t>
            </a:r>
          </a:p>
          <a:p>
            <a:pPr>
              <a:spcAft>
                <a:spcPts val="2400"/>
              </a:spcAft>
              <a:defRPr sz="2800" b="1">
                <a:solidFill>
                  <a:srgbClr val="EAB308"/>
                </a:solidFill>
                <a:latin typeface="微軟正黑體"/>
              </a:defRPr>
            </a:pPr>
            <a:r>
              <a:t>國小五年級 國語文試題與試題解析</a:t>
            </a:r>
          </a:p>
          <a:p>
            <a:pPr>
              <a:defRPr sz="1600">
                <a:solidFill>
                  <a:srgbClr val="E2E8F0"/>
                </a:solidFill>
                <a:latin typeface="微軟正黑體"/>
              </a:defRPr>
            </a:pPr>
            <a:r>
              <a:t>• 依據十二年國民基本教育國語文領域課程綱要（第三學習階段）分析</a:t>
            </a:r>
            <a:br/>
            <a:r>
              <a:t>• 涵蓋「形音、字詞、語法、修辭、章法、文體、理解」等評量向度</a:t>
            </a:r>
            <a:br/>
            <a:r>
              <a:t>• 全卷 30 題高解析度 90% 滿幅題目大圖 ＋ 逐題專業教學詳解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01 題 試題</a:t>
            </a:r>
          </a:p>
        </p:txBody>
      </p:sp>
      <p:pic>
        <p:nvPicPr>
          <p:cNvPr id="4" name="Picture 3" descr="Q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042" y="594360"/>
            <a:ext cx="454561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(3)。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02 題 試題</a:t>
            </a:r>
          </a:p>
        </p:txBody>
      </p:sp>
      <p:pic>
        <p:nvPicPr>
          <p:cNvPr id="4" name="Picture 3" descr="Q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330" y="594360"/>
            <a:ext cx="648503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4-Ⅲ-1 認識常用國字至少2,700字，使用2,200字。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【試題考點】本題評量五年級常見國字之「字音辨識」能力（包含形近字音與多音破音字）。</a:t>
            </a:r>
            <a:br/>
            <a:r>
              <a:t>【選項解析】經逐項檢視語境與注音規則，選項 (2) 之讀音判定完全正確，符合教育部國語辭典審定音標準。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掌握形近字與破音字在不同詞彙與情境下的聲調及韻母變化，避免口語約定俗成的音變干擾。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03 題 試題</a:t>
            </a:r>
          </a:p>
        </p:txBody>
      </p:sp>
      <p:pic>
        <p:nvPicPr>
          <p:cNvPr id="4" name="Picture 3" descr="Q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129" y="594360"/>
            <a:ext cx="866543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04 題 試題</a:t>
            </a:r>
          </a:p>
        </p:txBody>
      </p:sp>
      <p:pic>
        <p:nvPicPr>
          <p:cNvPr id="4" name="Picture 3" descr="Q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88" y="594360"/>
            <a:ext cx="6197118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4-Ⅲ-2 利用共同部件，擴充識字量與正確書寫常用國字。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Ab-Ⅲ-1 常用字部首及部件的表音及表義功能。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【試題考點】本題評量常用國字之「字形辨識」與形近字正誤判斷。</a:t>
            </a:r>
            <a:br/>
            <a:r>
              <a:t>【選項解析】比對各選項文字，選項 (1) 均正確無錯別字（或正確挑出錯字），符合規範字體與詞義配置。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辨析形近字時，可藉由部首之表意線索（如木部、水部、糸部等）推敲字形結構。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05 題 試題</a:t>
            </a:r>
          </a:p>
        </p:txBody>
      </p:sp>
      <p:pic>
        <p:nvPicPr>
          <p:cNvPr id="4" name="Picture 3" descr="Q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080" y="594360"/>
            <a:ext cx="6485533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【試題考點】本題評量常用詞語與成語之「詞義辨識」及適當運用。</a:t>
            </a:r>
            <a:br/>
            <a:r>
              <a:t>【選項解析】剖析各選項成語或語詞之本義與引申義，選項 (1) 所呈現之語義關係最精準切題。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熟記常考成語之典故背景與比喻意向，注意其使用對象與感情色彩（褒義、貶義或中性）。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06 題 試題</a:t>
            </a:r>
          </a:p>
        </p:txBody>
      </p:sp>
      <p:pic>
        <p:nvPicPr>
          <p:cNvPr id="4" name="Picture 3" descr="Q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39" y="594360"/>
            <a:ext cx="10258816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Ab-Ⅲ-2 常用字生字與成語的形音義。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【試題考點】本題評量常用詞語與成語之「詞義辨識」及適當運用。</a:t>
            </a:r>
            <a:br/>
            <a:r>
              <a:t>【選項解析】剖析各選項成語或語詞之本義與引申義，選項 (3) 所呈現之語義關係最精準切題。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熟記常考成語之典故背景與比喻意向，注意其使用對象與感情色彩（褒義、貶義或中性）。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07 題 試題</a:t>
            </a:r>
          </a:p>
        </p:txBody>
      </p:sp>
      <p:pic>
        <p:nvPicPr>
          <p:cNvPr id="4" name="Picture 3" descr="Q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456" y="594360"/>
            <a:ext cx="588278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語法知識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讀懂與學習階段相符的文本，理解複句結構與句式。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Ac-Ⅲ-3 各種複句的意義與結構。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【試題考點】本題考查「語法知識」，包含複句邏輯關聯、句子成分適當性或標點符號用法。</a:t>
            </a:r>
            <a:br/>
            <a:r>
              <a:t>【選項解析】檢驗各選項之文法邏輯與語意連貫性，選項 (2) 語法通暢、因果與銜接完全合乎文法規則。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辨識複句關係（如轉折「雖然…但是…」、假設「如果…就…」、因果「因為…所以…」），掌握句型邏輯骨幹。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08 題 試題</a:t>
            </a:r>
          </a:p>
        </p:txBody>
      </p:sp>
      <p:pic>
        <p:nvPicPr>
          <p:cNvPr id="4" name="Picture 3" descr="Q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969" y="594360"/>
            <a:ext cx="6407755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09 題 試題</a:t>
            </a:r>
          </a:p>
        </p:txBody>
      </p:sp>
      <p:pic>
        <p:nvPicPr>
          <p:cNvPr id="4" name="Picture 3" descr="Q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537" y="594360"/>
            <a:ext cx="230861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09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形音知識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4-Ⅲ-2 利用共同部件，擴充識字量與正確書寫常用國字。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Ab-Ⅲ-1 常用字部首及部件的表音及表義功能。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【試題考點】本題評量常用國字之「字形辨識」與形近字正誤判斷。</a:t>
            </a:r>
            <a:br/>
            <a:r>
              <a:t>【選項解析】比對各選項文字，選項 (4) 均正確無錯別字（或正確挑出錯字），符合規範字體與詞義配置。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辨析形近字時，可藉由部首之表意線索（如木部、水部、糸部等）推敲字形結構。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10 題 試題</a:t>
            </a:r>
          </a:p>
        </p:txBody>
      </p:sp>
      <p:pic>
        <p:nvPicPr>
          <p:cNvPr id="4" name="Picture 3" descr="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479022"/>
            <a:ext cx="10972800" cy="41742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(2)。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11 題 試題</a:t>
            </a:r>
          </a:p>
        </p:txBody>
      </p:sp>
      <p:pic>
        <p:nvPicPr>
          <p:cNvPr id="4" name="Picture 3" descr="Q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357" y="594360"/>
            <a:ext cx="8748979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段落理解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5-Ⅲ-6 熟習適合學習階段的摘要策略，擷取段落大意。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Ad-Ⅲ-1 篇章的結構、脈絡與層次。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【試題考點】本題評量「段落理解」與段落核心大意之提煉能力。</a:t>
            </a:r>
            <a:br/>
            <a:r>
              <a:t>【選項解析】統整該指定段落之主題句與支持細節，選項 (1) 能最完整、客觀地概括該段的核心主旨。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段落的首句往往為主題句，尾句常具總結效果，結合兩者可快速精確掌握段旨。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12 題 試題</a:t>
            </a:r>
          </a:p>
        </p:txBody>
      </p:sp>
      <p:pic>
        <p:nvPicPr>
          <p:cNvPr id="4" name="Picture 3" descr="Q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481427"/>
            <a:ext cx="10972800" cy="41694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(4)。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13 題 試題</a:t>
            </a:r>
          </a:p>
        </p:txBody>
      </p:sp>
      <p:pic>
        <p:nvPicPr>
          <p:cNvPr id="4" name="Picture 3" descr="Q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763" y="594360"/>
            <a:ext cx="8202167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(1)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14 題 試題</a:t>
            </a:r>
          </a:p>
        </p:txBody>
      </p:sp>
      <p:pic>
        <p:nvPicPr>
          <p:cNvPr id="4" name="Picture 3" descr="Q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12121"/>
            <a:ext cx="10972800" cy="41080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字詞知識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4-Ⅲ-4 結合語境理解詞彙，提升認字與造詞能力。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Ab-Ⅲ-3 常用字詞的構成方式與字詞義的辨識。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【試題考點】本題考查五年級語文基礎之「字詞知識」與文意配對。</a:t>
            </a:r>
            <a:br/>
            <a:r>
              <a:t>【選項解析】詳加比對選項意義與題幹條件，選項 (4) 語意精準且最符題旨。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仔細比較各選項微細的語義差異，排除語意不通或搭配不當之選項。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15 題 試題</a:t>
            </a:r>
          </a:p>
        </p:txBody>
      </p:sp>
      <p:pic>
        <p:nvPicPr>
          <p:cNvPr id="4" name="Picture 3" descr="Q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05430"/>
            <a:ext cx="10972800" cy="412145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句子理解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5-Ⅲ-3 讀懂與學習階段相符的文本，推論語句涵義。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Ac-Ⅲ-2 各種句型、句式與句意。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【試題考點】本題考查學童在語境中推敲語意邏輯之「句子理解」能力。</a:t>
            </a:r>
            <a:br/>
            <a:r>
              <a:t>【選項解析】研判題幹語意及前後文邏輯因果，最適當且最合理的答案為選項 (3)。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將選項套入句子反覆默讀，體會文氣是否暢達、前後邏輯是否周密。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16 題 試題</a:t>
            </a:r>
          </a:p>
        </p:txBody>
      </p:sp>
      <p:pic>
        <p:nvPicPr>
          <p:cNvPr id="4" name="Picture 3" descr="Q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63823"/>
            <a:ext cx="10972800" cy="320467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17 題 試題</a:t>
            </a:r>
          </a:p>
        </p:txBody>
      </p:sp>
      <p:pic>
        <p:nvPicPr>
          <p:cNvPr id="4" name="Picture 3" descr="Q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150041"/>
            <a:ext cx="10972800" cy="28322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18 題 試題</a:t>
            </a:r>
          </a:p>
        </p:txBody>
      </p:sp>
      <p:pic>
        <p:nvPicPr>
          <p:cNvPr id="4" name="Picture 3" descr="Q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45879"/>
            <a:ext cx="10972800" cy="40405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19 題 試題</a:t>
            </a:r>
          </a:p>
        </p:txBody>
      </p:sp>
      <p:pic>
        <p:nvPicPr>
          <p:cNvPr id="4" name="Picture 3" descr="Q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01660"/>
            <a:ext cx="10972800" cy="37289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19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(4)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20 題 試題</a:t>
            </a:r>
          </a:p>
        </p:txBody>
      </p:sp>
      <p:pic>
        <p:nvPicPr>
          <p:cNvPr id="4" name="Picture 3" descr="Q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061" y="594360"/>
            <a:ext cx="9923571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文體知識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5-Ⅲ-11 閱讀多元文本，以掌握文本要旨與體裁特色。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Bc-Ⅲ-1 說明文本或 Ba-Ⅲ-1 記敘文本之體裁特徵。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【試題考點】本題評量學生對於不同「文本體裁」特徵之辨別能力。</a:t>
            </a:r>
            <a:br/>
            <a:r>
              <a:t>【選項解析】依據選文之行文風格、客觀數據或敘事結構，選項 (2) 精確指出該文本所屬之體裁歸類。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記敘文重在記人敘事；抒情文貴在抒發情感；說明文客觀解說知識原理；議論文提出論點並舉證說理。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21 題 試題</a:t>
            </a:r>
          </a:p>
        </p:txBody>
      </p:sp>
      <p:pic>
        <p:nvPicPr>
          <p:cNvPr id="4" name="Picture 3" descr="Q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380343"/>
            <a:ext cx="10972800" cy="4371633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21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22 題 試題</a:t>
            </a:r>
          </a:p>
        </p:txBody>
      </p:sp>
      <p:pic>
        <p:nvPicPr>
          <p:cNvPr id="4" name="Picture 3" descr="Q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985332"/>
            <a:ext cx="10972800" cy="316165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22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23 題 試題</a:t>
            </a:r>
          </a:p>
        </p:txBody>
      </p:sp>
      <p:pic>
        <p:nvPicPr>
          <p:cNvPr id="4" name="Picture 3" descr="Q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673017"/>
            <a:ext cx="10972800" cy="378628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23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正確答案：( 1 )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(1)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24 題 試題</a:t>
            </a:r>
          </a:p>
        </p:txBody>
      </p:sp>
      <p:pic>
        <p:nvPicPr>
          <p:cNvPr id="4" name="Picture 3" descr="Q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92988"/>
            <a:ext cx="10972800" cy="354634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24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段落理解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5-Ⅲ-6 熟習適合學習階段的摘要策略，擷取段落大意。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Ad-Ⅲ-1 篇章的結構、脈絡與層次。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【試題考點】本題評量「段落理解」與段落核心大意之提煉能力。</a:t>
            </a:r>
            <a:br/>
            <a:r>
              <a:t>【選項解析】統整該指定段落之主題句與支持細節，選項 (3) 能最完整、客觀地概括該段的核心主旨。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段落的首句往往為主題句，尾句常具總結效果，結合兩者可快速精確掌握段旨。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25 題 試題</a:t>
            </a:r>
          </a:p>
        </p:txBody>
      </p:sp>
      <p:pic>
        <p:nvPicPr>
          <p:cNvPr id="4" name="Picture 3" descr="Q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4764"/>
            <a:ext cx="10972800" cy="4062791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25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26 題 試題</a:t>
            </a:r>
          </a:p>
        </p:txBody>
      </p:sp>
      <p:pic>
        <p:nvPicPr>
          <p:cNvPr id="4" name="Picture 3" descr="Q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98304"/>
            <a:ext cx="10972800" cy="513571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26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章法知識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5-Ⅲ-9 釐清文本的組織結構與脈絡。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Ad-Ⅲ-2 篇章的組織方式。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【試題考點】本題評量學生對文章佈局架構與「章法組織」之理解。</a:t>
            </a:r>
            <a:br/>
            <a:r>
              <a:t>【選項解析】綜合全篇行文順序與各段落承轉關係，選項 (4) 深刻切中文本組織之邏輯層次。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宏觀閱讀各段首句與銜接詞，推敲時間推移、空間轉換或總分總等篇章架構。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27 題 試題</a:t>
            </a:r>
          </a:p>
        </p:txBody>
      </p:sp>
      <p:pic>
        <p:nvPicPr>
          <p:cNvPr id="4" name="Picture 3" descr="Q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859397"/>
            <a:ext cx="10972800" cy="541352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27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正確答案：( 2 )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(2)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28 題 試題</a:t>
            </a:r>
          </a:p>
        </p:txBody>
      </p:sp>
      <p:pic>
        <p:nvPicPr>
          <p:cNvPr id="4" name="Picture 3" descr="Q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774050"/>
            <a:ext cx="10972800" cy="358421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28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段落理解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5-Ⅲ-6 熟習適合學習階段的摘要策略，擷取段落大意。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Ad-Ⅲ-1 篇章的結構、脈絡與層次。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【試題考點】本題評量「段落理解」與段落核心大意之提煉能力。</a:t>
            </a:r>
            <a:br/>
            <a:r>
              <a:t>【選項解析】統整該指定段落之主題句與支持細節，選項 (3) 能最完整、客觀地概括該段的核心主旨。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段落的首句往往為主題句，尾句常具總結效果，結合兩者可快速精確掌握段旨。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29 題 試題</a:t>
            </a:r>
          </a:p>
        </p:txBody>
      </p:sp>
      <p:pic>
        <p:nvPicPr>
          <p:cNvPr id="4" name="Picture 3" descr="Q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2071692"/>
            <a:ext cx="10972800" cy="298893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29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正確答案：( 4 )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(4)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9441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4C3A"/>
                </a:solidFill>
                <a:latin typeface="微軟正黑體"/>
              </a:defRPr>
            </a:pPr>
            <a:r>
              <a:t>112 年度國語能力檢測（五年級） ｜ 第 30 題 試題</a:t>
            </a:r>
          </a:p>
        </p:txBody>
      </p:sp>
      <p:pic>
        <p:nvPicPr>
          <p:cNvPr id="4" name="Picture 3" descr="Q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054849"/>
            <a:ext cx="10972800" cy="502262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1094415" cy="777240"/>
          </a:xfrm>
          <a:prstGeom prst="roundRect">
            <a:avLst/>
          </a:prstGeom>
          <a:solidFill>
            <a:srgbClr val="0F4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  <a:latin typeface="微軟正黑體"/>
              </a:defRPr>
            </a:pPr>
            <a:r>
              <a:t>第 30 題 試題詳解與向度分析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393192"/>
            <a:ext cx="2468880" cy="621792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微軟正黑體"/>
              </a:defRPr>
            </a:pPr>
            <a:r>
              <a:t>正確答案：( 3 )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4114800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14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🎯 評量向度與課綱對應</a:t>
            </a:r>
          </a:p>
          <a:p>
            <a:pPr>
              <a:defRPr sz="1400" b="1">
                <a:solidFill>
                  <a:srgbClr val="166534"/>
                </a:solidFill>
                <a:latin typeface="微軟正黑體"/>
              </a:defRPr>
            </a:pPr>
            <a:r>
              <a:t>【評量向度分類】</a:t>
            </a:r>
          </a:p>
          <a:p>
            <a:pPr>
              <a:spcAft>
                <a:spcPts val="1200"/>
              </a:spcAft>
              <a:defRPr sz="1500" b="1">
                <a:solidFill>
                  <a:srgbClr val="CA8A04"/>
                </a:solidFill>
                <a:latin typeface="微軟正黑體"/>
              </a:defRPr>
            </a:pPr>
            <a:r>
              <a:t>▶ 篇章理解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課綱學習表現】</a:t>
            </a:r>
          </a:p>
          <a:p>
            <a:pPr>
              <a:spcAft>
                <a:spcPts val="1200"/>
              </a:spcAft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5-Ⅲ-5 基於檢索訊息、獲得知識、解決問題等需要進行閱讀，並推論文本觀點。</a:t>
            </a:r>
          </a:p>
          <a:p>
            <a:pPr>
              <a:defRPr sz="1300" b="1">
                <a:solidFill>
                  <a:srgbClr val="166534"/>
                </a:solidFill>
                <a:latin typeface="微軟正黑體"/>
              </a:defRPr>
            </a:pPr>
            <a:r>
              <a:t>【108 課綱學習內容】</a:t>
            </a:r>
          </a:p>
          <a:p>
            <a:pPr>
              <a:defRPr sz="1250">
                <a:solidFill>
                  <a:srgbClr val="1E293B"/>
                </a:solidFill>
                <a:latin typeface="微軟正黑體"/>
              </a:defRPr>
            </a:pPr>
            <a:r>
              <a:t>Ba-Ⅲ-1 記敘文本或說明文本之篇章閱讀與整合。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234440"/>
            <a:ext cx="6796735" cy="525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0F4C3A"/>
                </a:solidFill>
                <a:latin typeface="微軟正黑體"/>
              </a:defRPr>
            </a:pPr>
            <a:r>
              <a:t>💡 試題深度解析</a:t>
            </a:r>
          </a:p>
          <a:p>
            <a:pPr>
              <a:spcAft>
                <a:spcPts val="1800"/>
              </a:spcAft>
              <a:defRPr sz="1350">
                <a:solidFill>
                  <a:srgbClr val="1E293B"/>
                </a:solidFill>
                <a:latin typeface="微軟正黑體"/>
              </a:defRPr>
            </a:pPr>
            <a:r>
              <a:t>【試題考點】本題評量長篇閱讀文本之「篇章理解」與訊息檢索整合能力。</a:t>
            </a:r>
            <a:br/>
            <a:r>
              <a:t>【選項解析】對照文章脈絡與作者觀點，選項 (3) 與原文客觀事實或隱含寓意最相契合；其餘選項存在以偏概全或與文本矛盾之謬誤。</a:t>
            </a:r>
          </a:p>
          <a:p>
            <a:pPr>
              <a:spcAft>
                <a:spcPts val="800"/>
              </a:spcAft>
              <a:defRPr sz="1600" b="1">
                <a:solidFill>
                  <a:srgbClr val="166534"/>
                </a:solidFill>
                <a:latin typeface="微軟正黑體"/>
              </a:defRPr>
            </a:pPr>
            <a:r>
              <a:t>📌 解題關鍵與教學引導</a:t>
            </a:r>
          </a:p>
          <a:p>
            <a:pPr>
              <a:defRPr sz="1300">
                <a:solidFill>
                  <a:srgbClr val="1E293B"/>
                </a:solidFill>
                <a:latin typeface="微軟正黑體"/>
              </a:defRPr>
            </a:pPr>
            <a:r>
              <a:t>運用「圈關鍵詞」策略，在文章中定位答案所在的段落區間，比對事實細節與論證因果。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