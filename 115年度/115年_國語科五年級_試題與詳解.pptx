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474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115 年度 縣市學生學習能力檢測</a:t>
            </a:r>
          </a:p>
          <a:p>
            <a:pPr>
              <a:spcAft>
                <a:spcPts val="2400"/>
              </a:spcAft>
              <a:defRPr sz="2800" b="1">
                <a:solidFill>
                  <a:srgbClr val="EAB308"/>
                </a:solidFill>
                <a:latin typeface="微軟正黑體"/>
              </a:defRPr>
            </a:pPr>
            <a:r>
              <a:t>國小五年級 國語文試題與試題解析</a:t>
            </a:r>
          </a:p>
          <a:p>
            <a:pPr>
              <a:defRPr sz="1600">
                <a:solidFill>
                  <a:srgbClr val="E2E8F0"/>
                </a:solidFill>
                <a:latin typeface="微軟正黑體"/>
              </a:defRPr>
            </a:pPr>
            <a:r>
              <a:t>• 依據十二年國民基本教育國語文領域課程綱要（第三學習階段）分析</a:t>
            </a:r>
            <a:br/>
            <a:r>
              <a:t>• 涵蓋「形音、字詞、語法、修辭、章法、文體、理解」等評量向度</a:t>
            </a:r>
            <a:br/>
            <a:r>
              <a:t>• 全卷 30 題高解析度 90% 滿幅題目大圖 ＋ 逐題專業教學詳解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01 題 試題</a:t>
            </a:r>
          </a:p>
        </p:txBody>
      </p:sp>
      <p:pic>
        <p:nvPicPr>
          <p:cNvPr id="4" name="Picture 3" descr="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847" y="594360"/>
            <a:ext cx="4010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(4)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02 題 試題</a:t>
            </a:r>
          </a:p>
        </p:txBody>
      </p:sp>
      <p:pic>
        <p:nvPicPr>
          <p:cNvPr id="4" name="Picture 3" descr="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62" y="594360"/>
            <a:ext cx="673737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03 題 試題</a:t>
            </a:r>
          </a:p>
        </p:txBody>
      </p:sp>
      <p:pic>
        <p:nvPicPr>
          <p:cNvPr id="4" name="Picture 3" descr="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76" y="594360"/>
            <a:ext cx="903194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04 題 試題</a:t>
            </a:r>
          </a:p>
        </p:txBody>
      </p:sp>
      <p:pic>
        <p:nvPicPr>
          <p:cNvPr id="4" name="Picture 3" descr="Q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75" y="594360"/>
            <a:ext cx="924654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(4)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05 題 試題</a:t>
            </a:r>
          </a:p>
        </p:txBody>
      </p:sp>
      <p:pic>
        <p:nvPicPr>
          <p:cNvPr id="4" name="Picture 3" descr="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51" y="594360"/>
            <a:ext cx="899459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06 題 試題</a:t>
            </a:r>
          </a:p>
        </p:txBody>
      </p:sp>
      <p:pic>
        <p:nvPicPr>
          <p:cNvPr id="4" name="Picture 3" descr="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19" y="594360"/>
            <a:ext cx="823365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07 題 試題</a:t>
            </a:r>
          </a:p>
        </p:txBody>
      </p:sp>
      <p:pic>
        <p:nvPicPr>
          <p:cNvPr id="4" name="Picture 3" descr="Q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01" y="594360"/>
            <a:ext cx="648449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(4)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08 題 試題</a:t>
            </a:r>
          </a:p>
        </p:txBody>
      </p:sp>
      <p:pic>
        <p:nvPicPr>
          <p:cNvPr id="4" name="Picture 3" descr="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932" y="594360"/>
            <a:ext cx="50598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09 題 試題</a:t>
            </a:r>
          </a:p>
        </p:txBody>
      </p:sp>
      <p:pic>
        <p:nvPicPr>
          <p:cNvPr id="4" name="Picture 3" descr="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5756"/>
            <a:ext cx="10972800" cy="54808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(1)。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10 題 試題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58" y="594360"/>
            <a:ext cx="589617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(3)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11 題 試題</a:t>
            </a:r>
          </a:p>
        </p:txBody>
      </p:sp>
      <p:pic>
        <p:nvPicPr>
          <p:cNvPr id="4" name="Picture 3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585" y="594360"/>
            <a:ext cx="367452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(3)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12 題 試題</a:t>
            </a:r>
          </a:p>
        </p:txBody>
      </p:sp>
      <p:pic>
        <p:nvPicPr>
          <p:cNvPr id="4" name="Picture 3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678" y="594360"/>
            <a:ext cx="419033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13 題 試題</a:t>
            </a:r>
          </a:p>
        </p:txBody>
      </p:sp>
      <p:pic>
        <p:nvPicPr>
          <p:cNvPr id="4" name="Picture 3" descr="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62" y="594360"/>
            <a:ext cx="503177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14 題 試題</a:t>
            </a:r>
          </a:p>
        </p:txBody>
      </p:sp>
      <p:pic>
        <p:nvPicPr>
          <p:cNvPr id="4" name="Picture 3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006" y="594360"/>
            <a:ext cx="235568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(1)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15 題 試題</a:t>
            </a:r>
          </a:p>
        </p:txBody>
      </p:sp>
      <p:pic>
        <p:nvPicPr>
          <p:cNvPr id="4" name="Picture 3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858" y="594360"/>
            <a:ext cx="320597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(4)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16 題 試題</a:t>
            </a:r>
          </a:p>
        </p:txBody>
      </p:sp>
      <p:pic>
        <p:nvPicPr>
          <p:cNvPr id="4" name="Picture 3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246" y="594360"/>
            <a:ext cx="879520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17 題 試題</a:t>
            </a:r>
          </a:p>
        </p:txBody>
      </p:sp>
      <p:pic>
        <p:nvPicPr>
          <p:cNvPr id="4" name="Picture 3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528" y="594360"/>
            <a:ext cx="482863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18 題 試題</a:t>
            </a:r>
          </a:p>
        </p:txBody>
      </p:sp>
      <p:pic>
        <p:nvPicPr>
          <p:cNvPr id="4" name="Picture 3" descr="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650" y="594360"/>
            <a:ext cx="5024394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19 題 試題</a:t>
            </a:r>
          </a:p>
        </p:txBody>
      </p:sp>
      <p:pic>
        <p:nvPicPr>
          <p:cNvPr id="4" name="Picture 3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355" y="594360"/>
            <a:ext cx="516898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20 題 試題</a:t>
            </a:r>
          </a:p>
        </p:txBody>
      </p:sp>
      <p:pic>
        <p:nvPicPr>
          <p:cNvPr id="4" name="Picture 3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732" y="594360"/>
            <a:ext cx="444622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21 題 試題</a:t>
            </a:r>
          </a:p>
        </p:txBody>
      </p:sp>
      <p:pic>
        <p:nvPicPr>
          <p:cNvPr id="4" name="Picture 3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1" y="594360"/>
            <a:ext cx="346223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22 題 試題</a:t>
            </a:r>
          </a:p>
        </p:txBody>
      </p:sp>
      <p:pic>
        <p:nvPicPr>
          <p:cNvPr id="4" name="Picture 3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07422"/>
            <a:ext cx="10972800" cy="37174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23 題 試題</a:t>
            </a:r>
          </a:p>
        </p:txBody>
      </p:sp>
      <p:pic>
        <p:nvPicPr>
          <p:cNvPr id="4" name="Picture 3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70847"/>
            <a:ext cx="10972800" cy="319062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24 題 試題</a:t>
            </a:r>
          </a:p>
        </p:txBody>
      </p:sp>
      <p:pic>
        <p:nvPicPr>
          <p:cNvPr id="4" name="Picture 3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087865"/>
            <a:ext cx="10972800" cy="29565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25 題 試題</a:t>
            </a:r>
          </a:p>
        </p:txBody>
      </p:sp>
      <p:pic>
        <p:nvPicPr>
          <p:cNvPr id="4" name="Picture 3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271" y="594360"/>
            <a:ext cx="986715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26 題 試題</a:t>
            </a:r>
          </a:p>
        </p:txBody>
      </p:sp>
      <p:pic>
        <p:nvPicPr>
          <p:cNvPr id="4" name="Picture 3" descr="Q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418492"/>
            <a:ext cx="10972800" cy="42953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27 題 試題</a:t>
            </a:r>
          </a:p>
        </p:txBody>
      </p:sp>
      <p:pic>
        <p:nvPicPr>
          <p:cNvPr id="4" name="Picture 3" descr="Q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06473"/>
            <a:ext cx="10972800" cy="45193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4-Ⅲ-2 利用共同部件，擴充識字量與正確書寫常用國字。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Ab-Ⅲ-1 常用字部首及部件的表音及表義功能。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【試題考點】本題評量常用國字之「字形辨識」與形近字正誤判斷。</a:t>
            </a:r>
            <a:br/>
            <a:r>
              <a:t>【選項解析】比對各選項文字，選項 (3) 均正確無錯別字（或正確挑出錯字），符合規範字體與詞義配置。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辨析形近字時，可藉由部首之表意線索（如木部、水部、糸部等）推敲字形結構。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28 題 試題</a:t>
            </a:r>
          </a:p>
        </p:txBody>
      </p:sp>
      <p:pic>
        <p:nvPicPr>
          <p:cNvPr id="4" name="Picture 3" descr="Q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28547"/>
            <a:ext cx="10972800" cy="28752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29 題 試題</a:t>
            </a:r>
          </a:p>
        </p:txBody>
      </p:sp>
      <p:pic>
        <p:nvPicPr>
          <p:cNvPr id="4" name="Picture 3" descr="Q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63985"/>
            <a:ext cx="10972800" cy="280434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(1)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115 年度國語能力檢測（五年級） ｜ 第 30 題 試題</a:t>
            </a:r>
          </a:p>
        </p:txBody>
      </p:sp>
      <p:pic>
        <p:nvPicPr>
          <p:cNvPr id="4" name="Picture 3" descr="Q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04340"/>
            <a:ext cx="10972800" cy="352363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30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