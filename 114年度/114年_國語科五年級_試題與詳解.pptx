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474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114 年度 縣市學生學習能力檢測</a:t>
            </a:r>
          </a:p>
          <a:p>
            <a:pPr>
              <a:spcAft>
                <a:spcPts val="2400"/>
              </a:spcAft>
              <a:defRPr sz="2800" b="1">
                <a:solidFill>
                  <a:srgbClr val="EAB308"/>
                </a:solidFill>
                <a:latin typeface="微軟正黑體"/>
              </a:defRPr>
            </a:pPr>
            <a:r>
              <a:t>國小五年級 國語文試題與試題解析</a:t>
            </a:r>
          </a:p>
          <a:p>
            <a:pPr>
              <a:defRPr sz="1600">
                <a:solidFill>
                  <a:srgbClr val="E2E8F0"/>
                </a:solidFill>
                <a:latin typeface="微軟正黑體"/>
              </a:defRPr>
            </a:pPr>
            <a:r>
              <a:t>• 依據十二年國民基本教育國語文領域課程綱要（第三學習階段）分析</a:t>
            </a:r>
            <a:br/>
            <a:r>
              <a:t>• 涵蓋「形音、字詞、語法、修辭、章法、文體、理解」等評量向度</a:t>
            </a:r>
            <a:br/>
            <a:r>
              <a:t>• 全卷 30 題高解析度 90% 滿幅題目大圖 ＋ 逐題專業教學詳解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01 題 試題</a:t>
            </a:r>
          </a:p>
        </p:txBody>
      </p:sp>
      <p:pic>
        <p:nvPicPr>
          <p:cNvPr id="4" name="Picture 3" descr="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05" y="594360"/>
            <a:ext cx="1050688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(4)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02 題 試題</a:t>
            </a:r>
          </a:p>
        </p:txBody>
      </p:sp>
      <p:pic>
        <p:nvPicPr>
          <p:cNvPr id="4" name="Picture 3" descr="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834" y="594360"/>
            <a:ext cx="626602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(1)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03 題 試題</a:t>
            </a:r>
          </a:p>
        </p:txBody>
      </p:sp>
      <p:pic>
        <p:nvPicPr>
          <p:cNvPr id="4" name="Picture 3" descr="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04" y="594360"/>
            <a:ext cx="1075308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04 題 試題</a:t>
            </a:r>
          </a:p>
        </p:txBody>
      </p:sp>
      <p:pic>
        <p:nvPicPr>
          <p:cNvPr id="4" name="Picture 3" descr="Q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30" y="594360"/>
            <a:ext cx="925503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05 題 試題</a:t>
            </a:r>
          </a:p>
        </p:txBody>
      </p:sp>
      <p:pic>
        <p:nvPicPr>
          <p:cNvPr id="4" name="Picture 3" descr="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75" y="594360"/>
            <a:ext cx="924654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(1)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06 題 試題</a:t>
            </a:r>
          </a:p>
        </p:txBody>
      </p:sp>
      <p:pic>
        <p:nvPicPr>
          <p:cNvPr id="4" name="Picture 3" descr="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792" y="594360"/>
            <a:ext cx="461810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(2)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07 題 試題</a:t>
            </a:r>
          </a:p>
        </p:txBody>
      </p:sp>
      <p:pic>
        <p:nvPicPr>
          <p:cNvPr id="4" name="Picture 3" descr="Q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06" y="594360"/>
            <a:ext cx="1048628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08 題 試題</a:t>
            </a:r>
          </a:p>
        </p:txBody>
      </p:sp>
      <p:pic>
        <p:nvPicPr>
          <p:cNvPr id="4" name="Picture 3" descr="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75" y="594360"/>
            <a:ext cx="477594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(4)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09 題 試題</a:t>
            </a:r>
          </a:p>
        </p:txBody>
      </p:sp>
      <p:pic>
        <p:nvPicPr>
          <p:cNvPr id="4" name="Picture 3" descr="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648" y="594360"/>
            <a:ext cx="775639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(2)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10 題 試題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28" y="594360"/>
            <a:ext cx="658503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11 題 試題</a:t>
            </a:r>
          </a:p>
        </p:txBody>
      </p:sp>
      <p:pic>
        <p:nvPicPr>
          <p:cNvPr id="4" name="Picture 3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22" y="594360"/>
            <a:ext cx="361264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12 題 試題</a:t>
            </a:r>
          </a:p>
        </p:txBody>
      </p:sp>
      <p:pic>
        <p:nvPicPr>
          <p:cNvPr id="4" name="Picture 3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285" y="594360"/>
            <a:ext cx="490312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修辭知識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5-Ⅲ-2 理解不同文本的內容與情感，體會修辭技巧的美感與效果。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Ac-Ⅲ-4 常見修辭的特徵與效果。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【試題考點】本題評量國小高年級常見「修辭手法」之辨認與鑑賞能力。</a:t>
            </a:r>
            <a:br/>
            <a:r>
              <a:t>【選項解析】分析題目語句所運用的修辭特徵，選項 (1) 準確辨別出修辭手法，並能體會其增強語氣或生動形象之效果。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抓住關鍵標誌：譬喻常有「像、若、如」；轉化常將物擬人化；排比結構相同三句以上；設問則有問有答。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13 題 試題</a:t>
            </a:r>
          </a:p>
        </p:txBody>
      </p:sp>
      <p:pic>
        <p:nvPicPr>
          <p:cNvPr id="4" name="Picture 3" descr="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69" y="594360"/>
            <a:ext cx="421995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14 題 試題</a:t>
            </a:r>
          </a:p>
        </p:txBody>
      </p:sp>
      <p:pic>
        <p:nvPicPr>
          <p:cNvPr id="4" name="Picture 3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200" y="594360"/>
            <a:ext cx="368529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(4)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15 題 試題</a:t>
            </a:r>
          </a:p>
        </p:txBody>
      </p:sp>
      <p:pic>
        <p:nvPicPr>
          <p:cNvPr id="4" name="Picture 3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478" y="594360"/>
            <a:ext cx="642273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16 題 試題</a:t>
            </a:r>
          </a:p>
        </p:txBody>
      </p:sp>
      <p:pic>
        <p:nvPicPr>
          <p:cNvPr id="4" name="Picture 3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416" y="594360"/>
            <a:ext cx="632686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17 題 試題</a:t>
            </a:r>
          </a:p>
        </p:txBody>
      </p:sp>
      <p:pic>
        <p:nvPicPr>
          <p:cNvPr id="4" name="Picture 3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237" y="594360"/>
            <a:ext cx="573921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18 題 試題</a:t>
            </a:r>
          </a:p>
        </p:txBody>
      </p:sp>
      <p:pic>
        <p:nvPicPr>
          <p:cNvPr id="4" name="Picture 3" descr="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247" y="594360"/>
            <a:ext cx="58552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19 題 試題</a:t>
            </a:r>
          </a:p>
        </p:txBody>
      </p:sp>
      <p:pic>
        <p:nvPicPr>
          <p:cNvPr id="4" name="Picture 3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978" y="594360"/>
            <a:ext cx="391373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(1)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20 題 試題</a:t>
            </a:r>
          </a:p>
        </p:txBody>
      </p:sp>
      <p:pic>
        <p:nvPicPr>
          <p:cNvPr id="4" name="Picture 3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63" y="594360"/>
            <a:ext cx="268316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21 題 試題</a:t>
            </a:r>
          </a:p>
        </p:txBody>
      </p:sp>
      <p:pic>
        <p:nvPicPr>
          <p:cNvPr id="4" name="Picture 3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794" y="594360"/>
            <a:ext cx="375810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22 題 試題</a:t>
            </a:r>
          </a:p>
        </p:txBody>
      </p:sp>
      <p:pic>
        <p:nvPicPr>
          <p:cNvPr id="4" name="Picture 3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8611"/>
            <a:ext cx="10972800" cy="355509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23 題 試題</a:t>
            </a:r>
          </a:p>
        </p:txBody>
      </p:sp>
      <p:pic>
        <p:nvPicPr>
          <p:cNvPr id="4" name="Picture 3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12248"/>
            <a:ext cx="10972800" cy="330782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24 題 試題</a:t>
            </a:r>
          </a:p>
        </p:txBody>
      </p:sp>
      <p:pic>
        <p:nvPicPr>
          <p:cNvPr id="4" name="Picture 3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095979"/>
            <a:ext cx="10972800" cy="49403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25 題 試題</a:t>
            </a:r>
          </a:p>
        </p:txBody>
      </p:sp>
      <p:pic>
        <p:nvPicPr>
          <p:cNvPr id="4" name="Picture 3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024074"/>
            <a:ext cx="10972800" cy="508417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26 題 試題</a:t>
            </a:r>
          </a:p>
        </p:txBody>
      </p:sp>
      <p:pic>
        <p:nvPicPr>
          <p:cNvPr id="4" name="Picture 3" descr="Q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45573"/>
            <a:ext cx="10972800" cy="344117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27 題 試題</a:t>
            </a:r>
          </a:p>
        </p:txBody>
      </p:sp>
      <p:pic>
        <p:nvPicPr>
          <p:cNvPr id="4" name="Picture 3" descr="Q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27532"/>
            <a:ext cx="10972800" cy="467725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28 題 試題</a:t>
            </a:r>
          </a:p>
        </p:txBody>
      </p:sp>
      <p:pic>
        <p:nvPicPr>
          <p:cNvPr id="4" name="Picture 3" descr="Q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086891"/>
            <a:ext cx="10972800" cy="295853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29 題 試題</a:t>
            </a:r>
          </a:p>
        </p:txBody>
      </p:sp>
      <p:pic>
        <p:nvPicPr>
          <p:cNvPr id="4" name="Picture 3" descr="Q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018507"/>
            <a:ext cx="10972800" cy="309530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114 年度國語能力檢測（五年級） ｜ 第 30 題 試題</a:t>
            </a:r>
          </a:p>
        </p:txBody>
      </p:sp>
      <p:pic>
        <p:nvPicPr>
          <p:cNvPr id="4" name="Picture 3" descr="Q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43464"/>
            <a:ext cx="10972800" cy="444539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30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