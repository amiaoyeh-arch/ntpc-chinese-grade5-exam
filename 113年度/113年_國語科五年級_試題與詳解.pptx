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82880" cy="34747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113 年度 縣市學生學習能力檢測</a:t>
            </a:r>
          </a:p>
          <a:p>
            <a:pPr>
              <a:spcAft>
                <a:spcPts val="2400"/>
              </a:spcAft>
              <a:defRPr sz="2800" b="1">
                <a:solidFill>
                  <a:srgbClr val="EAB308"/>
                </a:solidFill>
                <a:latin typeface="微軟正黑體"/>
              </a:defRPr>
            </a:pPr>
            <a:r>
              <a:t>國小五年級 國語文試題與試題解析</a:t>
            </a:r>
          </a:p>
          <a:p>
            <a:pPr>
              <a:defRPr sz="1600">
                <a:solidFill>
                  <a:srgbClr val="E2E8F0"/>
                </a:solidFill>
                <a:latin typeface="微軟正黑體"/>
              </a:defRPr>
            </a:pPr>
            <a:r>
              <a:t>• 依據十二年國民基本教育國語文領域課程綱要（第三學習階段）分析</a:t>
            </a:r>
            <a:br/>
            <a:r>
              <a:t>• 涵蓋「形音、字詞、語法、修辭、章法、文體、理解」等評量向度</a:t>
            </a:r>
            <a:br/>
            <a:r>
              <a:t>• 全卷 30 題高解析度 90% 滿幅題目大圖 ＋ 逐題專業教學詳解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01 題 試題</a:t>
            </a:r>
          </a:p>
        </p:txBody>
      </p:sp>
      <p:pic>
        <p:nvPicPr>
          <p:cNvPr id="4" name="Picture 3" descr="Q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45" y="594360"/>
            <a:ext cx="10580804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(2)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02 題 試題</a:t>
            </a:r>
          </a:p>
        </p:txBody>
      </p:sp>
      <p:pic>
        <p:nvPicPr>
          <p:cNvPr id="4" name="Picture 3" descr="Q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395" y="594360"/>
            <a:ext cx="569290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(3)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03 題 試題</a:t>
            </a:r>
          </a:p>
        </p:txBody>
      </p:sp>
      <p:pic>
        <p:nvPicPr>
          <p:cNvPr id="4" name="Picture 3" descr="Q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484" y="594360"/>
            <a:ext cx="711272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04 題 試題</a:t>
            </a:r>
          </a:p>
        </p:txBody>
      </p:sp>
      <p:pic>
        <p:nvPicPr>
          <p:cNvPr id="4" name="Picture 3" descr="Q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14" y="594360"/>
            <a:ext cx="891126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【試題考點】本題評量常用詞語與成語之「詞義辨識」及適當運用。</a:t>
            </a:r>
            <a:br/>
            <a:r>
              <a:t>【選項解析】剖析各選項成語或語詞之本義與引申義，選項 (4) 所呈現之語義關係最精準切題。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熟記常考成語之典故背景與比喻意向，注意其使用對象與感情色彩（褒義、貶義或中性）。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05 題 試題</a:t>
            </a:r>
          </a:p>
        </p:txBody>
      </p:sp>
      <p:pic>
        <p:nvPicPr>
          <p:cNvPr id="4" name="Picture 3" descr="Q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64" y="594360"/>
            <a:ext cx="889056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(4)。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06 題 試題</a:t>
            </a:r>
          </a:p>
        </p:txBody>
      </p:sp>
      <p:pic>
        <p:nvPicPr>
          <p:cNvPr id="4" name="Picture 3" descr="Q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595" y="594360"/>
            <a:ext cx="450650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語法知識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讀懂與學習階段相符的文本，理解複句結構與句式。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Ac-Ⅲ-3 各種複句的意義與結構。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【試題考點】本題考查「語法知識」，包含複句邏輯關聯、句子成分適當性或標點符號用法。</a:t>
            </a:r>
            <a:br/>
            <a:r>
              <a:t>【選項解析】檢驗各選項之文法邏輯與語意連貫性，選項 (2) 語法通暢、因果與銜接完全合乎文法規則。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辨識複句關係（如轉折「雖然…但是…」、假設「如果…就…」、因果「因為…所以…」），掌握句型邏輯骨幹。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07 題 試題</a:t>
            </a:r>
          </a:p>
        </p:txBody>
      </p:sp>
      <p:pic>
        <p:nvPicPr>
          <p:cNvPr id="4" name="Picture 3" descr="Q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643" y="594360"/>
            <a:ext cx="682840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(3)。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08 題 試題</a:t>
            </a:r>
          </a:p>
        </p:txBody>
      </p:sp>
      <p:pic>
        <p:nvPicPr>
          <p:cNvPr id="4" name="Picture 3" descr="Q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17" y="594360"/>
            <a:ext cx="70954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(4)。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09 題 試題</a:t>
            </a:r>
          </a:p>
        </p:txBody>
      </p:sp>
      <p:pic>
        <p:nvPicPr>
          <p:cNvPr id="4" name="Picture 3" descr="Q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671" y="594360"/>
            <a:ext cx="718435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10 題 試題</a:t>
            </a:r>
          </a:p>
        </p:txBody>
      </p:sp>
      <p:pic>
        <p:nvPicPr>
          <p:cNvPr id="4" name="Picture 3" descr="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818" y="594360"/>
            <a:ext cx="695205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(3)。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11 題 試題</a:t>
            </a:r>
          </a:p>
        </p:txBody>
      </p:sp>
      <p:pic>
        <p:nvPicPr>
          <p:cNvPr id="4" name="Picture 3" descr="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809" y="594360"/>
            <a:ext cx="67220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12 題 試題</a:t>
            </a:r>
          </a:p>
        </p:txBody>
      </p:sp>
      <p:pic>
        <p:nvPicPr>
          <p:cNvPr id="4" name="Picture 3" descr="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254" y="594360"/>
            <a:ext cx="612118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13 題 試題</a:t>
            </a:r>
          </a:p>
        </p:txBody>
      </p:sp>
      <p:pic>
        <p:nvPicPr>
          <p:cNvPr id="4" name="Picture 3" descr="Q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528" y="594360"/>
            <a:ext cx="425663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章法知識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5-Ⅲ-9 釐清文本的組織結構與脈絡。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Ad-Ⅲ-2 篇章的組織方式。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【試題考點】本題評量學生對文章佈局架構與「章法組織」之理解。</a:t>
            </a:r>
            <a:br/>
            <a:r>
              <a:t>【選項解析】綜合全篇行文順序與各段落承轉關係，選項 (4) 深刻切中文本組織之邏輯層次。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宏觀閱讀各段首句與銜接詞，推敲時間推移、空間轉換或總分總等篇章架構。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14 題 試題</a:t>
            </a:r>
          </a:p>
        </p:txBody>
      </p:sp>
      <p:pic>
        <p:nvPicPr>
          <p:cNvPr id="4" name="Picture 3" descr="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91" y="594360"/>
            <a:ext cx="466291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(3)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15 題 試題</a:t>
            </a:r>
          </a:p>
        </p:txBody>
      </p:sp>
      <p:pic>
        <p:nvPicPr>
          <p:cNvPr id="4" name="Picture 3" descr="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607" y="594360"/>
            <a:ext cx="5058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(3)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16 題 試題</a:t>
            </a:r>
          </a:p>
        </p:txBody>
      </p:sp>
      <p:pic>
        <p:nvPicPr>
          <p:cNvPr id="4" name="Picture 3" descr="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277" y="594360"/>
            <a:ext cx="782313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17 題 試題</a:t>
            </a:r>
          </a:p>
        </p:txBody>
      </p:sp>
      <p:pic>
        <p:nvPicPr>
          <p:cNvPr id="4" name="Picture 3" descr="Q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353" y="594360"/>
            <a:ext cx="830898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18 題 試題</a:t>
            </a:r>
          </a:p>
        </p:txBody>
      </p:sp>
      <p:pic>
        <p:nvPicPr>
          <p:cNvPr id="4" name="Picture 3" descr="Q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47" y="594360"/>
            <a:ext cx="7086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19 題 試題</a:t>
            </a:r>
          </a:p>
        </p:txBody>
      </p:sp>
      <p:pic>
        <p:nvPicPr>
          <p:cNvPr id="4" name="Picture 3" descr="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035" y="594360"/>
            <a:ext cx="317362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20 題 試題</a:t>
            </a:r>
          </a:p>
        </p:txBody>
      </p:sp>
      <p:pic>
        <p:nvPicPr>
          <p:cNvPr id="4" name="Picture 3" descr="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716" y="594360"/>
            <a:ext cx="620226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(2)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21 題 試題</a:t>
            </a:r>
          </a:p>
        </p:txBody>
      </p:sp>
      <p:pic>
        <p:nvPicPr>
          <p:cNvPr id="4" name="Picture 3" descr="Q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658" y="594360"/>
            <a:ext cx="377637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22 題 試題</a:t>
            </a:r>
          </a:p>
        </p:txBody>
      </p:sp>
      <p:pic>
        <p:nvPicPr>
          <p:cNvPr id="4" name="Picture 3" descr="Q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87859"/>
            <a:ext cx="10972800" cy="355660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23 題 試題</a:t>
            </a:r>
          </a:p>
        </p:txBody>
      </p:sp>
      <p:pic>
        <p:nvPicPr>
          <p:cNvPr id="4" name="Picture 3" descr="Q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13872"/>
            <a:ext cx="10972800" cy="33045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24 題 試題</a:t>
            </a:r>
          </a:p>
        </p:txBody>
      </p:sp>
      <p:pic>
        <p:nvPicPr>
          <p:cNvPr id="4" name="Picture 3" descr="Q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19456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25 題 試題</a:t>
            </a:r>
          </a:p>
        </p:txBody>
      </p:sp>
      <p:pic>
        <p:nvPicPr>
          <p:cNvPr id="4" name="Picture 3" descr="Q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40805"/>
            <a:ext cx="10972800" cy="325070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26 題 試題</a:t>
            </a:r>
          </a:p>
        </p:txBody>
      </p:sp>
      <p:pic>
        <p:nvPicPr>
          <p:cNvPr id="4" name="Picture 3" descr="Q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694375"/>
            <a:ext cx="10972800" cy="374356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27 題 試題</a:t>
            </a:r>
          </a:p>
        </p:txBody>
      </p:sp>
      <p:pic>
        <p:nvPicPr>
          <p:cNvPr id="4" name="Picture 3" descr="Q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050425"/>
            <a:ext cx="10972800" cy="303146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28 題 試題</a:t>
            </a:r>
          </a:p>
        </p:txBody>
      </p:sp>
      <p:pic>
        <p:nvPicPr>
          <p:cNvPr id="4" name="Picture 3" descr="Q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191672"/>
            <a:ext cx="10972800" cy="27489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29 題 試題</a:t>
            </a:r>
          </a:p>
        </p:txBody>
      </p:sp>
      <p:pic>
        <p:nvPicPr>
          <p:cNvPr id="4" name="Picture 3" descr="Q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163308"/>
            <a:ext cx="10972800" cy="280570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113 年度國語能力檢測（五年級） ｜ 第 30 題 試題</a:t>
            </a:r>
          </a:p>
        </p:txBody>
      </p:sp>
      <p:pic>
        <p:nvPicPr>
          <p:cNvPr id="4" name="Picture 3" descr="Q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654060"/>
            <a:ext cx="10972800" cy="382419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30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